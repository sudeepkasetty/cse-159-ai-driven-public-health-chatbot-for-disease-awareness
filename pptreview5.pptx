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7" r:id="rId7"/>
    <p:sldId id="261" r:id="rId8"/>
    <p:sldId id="262" r:id="rId9"/>
    <p:sldId id="268" r:id="rId10"/>
    <p:sldId id="264"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8" d="100"/>
          <a:sy n="78" d="100"/>
        </p:scale>
        <p:origin x="850"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43678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ijfmr.com/papers/2024/3/21865.pdf"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www.bioinformation.net/021/973206300210827.pdf" TargetMode="External"/><Relationship Id="rId5" Type="http://schemas.openxmlformats.org/officeDocument/2006/relationships/hyperlink" Target="https://www.ijert.org/research/ai-based-chatbot-for-healthcare-IJERTV14IS120115.pdf" TargetMode="External"/><Relationship Id="rId4" Type="http://schemas.openxmlformats.org/officeDocument/2006/relationships/hyperlink" Target="https://ijrpr.com/uploads/V6ISSUE5/IJRPR44962.pdf"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AI Driven Public Health Chatbot for Disease Awareness</a:t>
            </a:r>
            <a:endParaRPr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Times New Roman" panose="02020603050405020304" pitchFamily="18" charset="0"/>
                <a:ea typeface="Cambria" panose="02040503050406030204" pitchFamily="18" charset="0"/>
                <a:cs typeface="Times New Roman" panose="02020603050405020304" pitchFamily="18" charset="0"/>
              </a:rPr>
              <a:t>Batch Number: CSE_159</a:t>
            </a:r>
            <a:endParaRPr sz="18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0" name="Google Shape;90;p13"/>
          <p:cNvSpPr txBox="1"/>
          <p:nvPr/>
        </p:nvSpPr>
        <p:spPr>
          <a:xfrm>
            <a:off x="6096000" y="2756049"/>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Under the Supervision of,</a:t>
            </a:r>
          </a:p>
          <a:p>
            <a:pPr marL="0" marR="0" lvl="0" indent="0" algn="ctr" rtl="0">
              <a:spcBef>
                <a:spcPts val="0"/>
              </a:spcBef>
              <a:spcAft>
                <a:spcPts val="0"/>
              </a:spcAft>
              <a:buClr>
                <a:srgbClr val="17365D"/>
              </a:buClr>
              <a:buSzPts val="2000"/>
              <a:buFont typeface="Arial"/>
              <a:buNone/>
            </a:pPr>
            <a:endParaRPr lang="en-IN" sz="2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marL="0" marR="0" lvl="0" indent="0" algn="l" rtl="0">
              <a:spcBef>
                <a:spcPts val="340"/>
              </a:spcBef>
              <a:spcAft>
                <a:spcPts val="0"/>
              </a:spcAft>
              <a:buClr>
                <a:srgbClr val="17365D"/>
              </a:buClr>
              <a:buSzPts val="1700"/>
              <a:buFont typeface="Arial"/>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	         </a:t>
            </a:r>
            <a:r>
              <a:rPr lang="en-GB"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Ms. Sreelatha P.K</a:t>
            </a:r>
            <a:endParaRPr sz="18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340"/>
              </a:spcBef>
              <a:spcAft>
                <a:spcPts val="0"/>
              </a:spcAft>
              <a:buClr>
                <a:srgbClr val="17365D"/>
              </a:buClr>
              <a:buSzPts val="1700"/>
              <a:buFont typeface="Arial"/>
              <a:buNone/>
            </a:pPr>
            <a:r>
              <a:rPr lang="en-GB"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	         Assistant Professor</a:t>
            </a:r>
            <a:endParaRPr sz="18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340"/>
              </a:spcBef>
              <a:spcAft>
                <a:spcPts val="0"/>
              </a:spcAft>
              <a:buClr>
                <a:srgbClr val="17365D"/>
              </a:buClr>
              <a:buSzPts val="1700"/>
              <a:buFont typeface="Arial"/>
              <a:buNone/>
            </a:pPr>
            <a:r>
              <a:rPr lang="en-GB"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	         School of Computer Science and 	</a:t>
            </a:r>
            <a:r>
              <a:rPr lang="en-GB" sz="18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         </a:t>
            </a:r>
            <a:r>
              <a:rPr lang="en-GB"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Engineering</a:t>
            </a:r>
            <a:endParaRPr sz="18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340"/>
              </a:spcBef>
              <a:spcAft>
                <a:spcPts val="0"/>
              </a:spcAft>
              <a:buClr>
                <a:srgbClr val="17365D"/>
              </a:buClr>
              <a:buSzPts val="1700"/>
              <a:buFont typeface="Arial"/>
              <a:buNone/>
            </a:pPr>
            <a:r>
              <a:rPr lang="en-GB"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	         Presidency University</a:t>
            </a:r>
          </a:p>
          <a:p>
            <a:pPr marL="0" marR="0" lvl="0" indent="0" algn="l" rtl="0">
              <a:spcBef>
                <a:spcPts val="340"/>
              </a:spcBef>
              <a:spcAft>
                <a:spcPts val="0"/>
              </a:spcAft>
              <a:buClr>
                <a:srgbClr val="17365D"/>
              </a:buClr>
              <a:buSzPts val="1700"/>
              <a:buFont typeface="Arial"/>
              <a:buNone/>
            </a:pPr>
            <a:endParaRPr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CSE7302-</a:t>
            </a: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 University Project</a:t>
            </a:r>
            <a:endParaRPr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Review-5</a:t>
            </a:r>
            <a:endParaRPr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
        <p:nvSpPr>
          <p:cNvPr id="8" name="Google Shape;91;p13"/>
          <p:cNvSpPr txBox="1"/>
          <p:nvPr/>
        </p:nvSpPr>
        <p:spPr>
          <a:xfrm>
            <a:off x="0" y="4543732"/>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B.TECH</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solidFill>
                <a:latin typeface="Cambria" panose="02040503050406030204" pitchFamily="18" charset="0"/>
                <a:ea typeface="Cambria" panose="02040503050406030204" pitchFamily="18" charset="0"/>
                <a:cs typeface="Verdana"/>
                <a:sym typeface="Verdana"/>
              </a:rPr>
              <a:t>Dr. Blessed Prince</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chemeClr val="tx1"/>
                </a:solidFill>
                <a:latin typeface="Cambria" panose="02040503050406030204" pitchFamily="18" charset="0"/>
                <a:ea typeface="Cambria" panose="02040503050406030204" pitchFamily="18" charset="0"/>
                <a:cs typeface="Verdana"/>
                <a:sym typeface="Verdana"/>
              </a:rPr>
              <a:t>Mr. </a:t>
            </a:r>
            <a:r>
              <a:rPr lang="en-US" sz="1800" b="1" dirty="0" err="1">
                <a:solidFill>
                  <a:schemeClr val="tx1"/>
                </a:solidFill>
                <a:latin typeface="Cambria" panose="02040503050406030204" pitchFamily="18" charset="0"/>
                <a:ea typeface="Cambria" panose="02040503050406030204" pitchFamily="18" charset="0"/>
                <a:cs typeface="Verdana"/>
                <a:sym typeface="Verdana"/>
              </a:rPr>
              <a:t>Muthuraju</a:t>
            </a:r>
            <a:r>
              <a:rPr lang="en-US" sz="1800" b="1" dirty="0">
                <a:solidFill>
                  <a:schemeClr val="tx1"/>
                </a:solidFill>
                <a:latin typeface="Cambria" panose="02040503050406030204" pitchFamily="18" charset="0"/>
                <a:ea typeface="Cambria" panose="02040503050406030204" pitchFamily="18" charset="0"/>
                <a:cs typeface="Verdana"/>
                <a:sym typeface="Verdana"/>
              </a:rPr>
              <a:t> V</a:t>
            </a:r>
            <a:endPar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E6D09CC3-A702-EC87-BEF4-E6036435E3A3}"/>
              </a:ext>
            </a:extLst>
          </p:cNvPr>
          <p:cNvGraphicFramePr>
            <a:graphicFrameLocks noGrp="1"/>
          </p:cNvGraphicFramePr>
          <p:nvPr>
            <p:extLst>
              <p:ext uri="{D42A27DB-BD31-4B8C-83A1-F6EECF244321}">
                <p14:modId xmlns:p14="http://schemas.microsoft.com/office/powerpoint/2010/main" val="592445640"/>
              </p:ext>
            </p:extLst>
          </p:nvPr>
        </p:nvGraphicFramePr>
        <p:xfrm>
          <a:off x="536858" y="2756049"/>
          <a:ext cx="5926848" cy="1554500"/>
        </p:xfrm>
        <a:graphic>
          <a:graphicData uri="http://schemas.openxmlformats.org/drawingml/2006/table">
            <a:tbl>
              <a:tblPr firstRow="1" bandRow="1">
                <a:noFill/>
                <a:tableStyleId>{57690726-49DA-4552-BDEB-330DD8EA8BD9}</a:tableStyleId>
              </a:tblPr>
              <a:tblGrid>
                <a:gridCol w="2280535">
                  <a:extLst>
                    <a:ext uri="{9D8B030D-6E8A-4147-A177-3AD203B41FA5}">
                      <a16:colId xmlns:a16="http://schemas.microsoft.com/office/drawing/2014/main" val="1904067847"/>
                    </a:ext>
                  </a:extLst>
                </a:gridCol>
                <a:gridCol w="3646313">
                  <a:extLst>
                    <a:ext uri="{9D8B030D-6E8A-4147-A177-3AD203B41FA5}">
                      <a16:colId xmlns:a16="http://schemas.microsoft.com/office/drawing/2014/main" val="1562719315"/>
                    </a:ext>
                  </a:extLst>
                </a:gridCol>
              </a:tblGrid>
              <a:tr h="321252">
                <a:tc>
                  <a:txBody>
                    <a:bodyPr/>
                    <a:lstStyle/>
                    <a:p>
                      <a:pPr marL="0" marR="0" lvl="1" indent="0" algn="ctr" rtl="0">
                        <a:spcBef>
                          <a:spcPts val="0"/>
                        </a:spcBef>
                        <a:spcAft>
                          <a:spcPts val="0"/>
                        </a:spcAft>
                        <a:buFont typeface="+mj-lt"/>
                        <a:buNone/>
                      </a:pPr>
                      <a:r>
                        <a:rPr lang="en-GB" sz="1800" b="1" u="none" strike="noStrike" cap="none" dirty="0">
                          <a:solidFill>
                            <a:srgbClr val="17365D"/>
                          </a:solidFill>
                          <a:latin typeface="Times New Roman" panose="02020603050405020304" pitchFamily="18" charset="0"/>
                          <a:cs typeface="Times New Roman" panose="02020603050405020304" pitchFamily="18" charset="0"/>
                        </a:rPr>
                        <a:t>Roll Number    </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Font typeface="+mj-lt"/>
                        <a:buNone/>
                      </a:pPr>
                      <a:r>
                        <a:rPr lang="en-GB" sz="1800" b="1" u="none" strike="noStrike" cap="none" dirty="0">
                          <a:solidFill>
                            <a:srgbClr val="17365D"/>
                          </a:solidFill>
                          <a:latin typeface="Times New Roman" panose="02020603050405020304" pitchFamily="18" charset="0"/>
                          <a:cs typeface="Times New Roman" panose="02020603050405020304" pitchFamily="18" charset="0"/>
                        </a:rPr>
                        <a:t>Student Name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2483098456"/>
                  </a:ext>
                </a:extLst>
              </a:tr>
              <a:tr h="764227">
                <a:tc>
                  <a:txBody>
                    <a:bodyPr/>
                    <a:lstStyle/>
                    <a:p>
                      <a:pPr marL="0" marR="0" lvl="0" indent="0" algn="ctr" rtl="0">
                        <a:spcBef>
                          <a:spcPts val="0"/>
                        </a:spcBef>
                        <a:spcAft>
                          <a:spcPts val="0"/>
                        </a:spcAft>
                        <a:buFont typeface="+mj-lt"/>
                        <a:buNone/>
                      </a:pPr>
                      <a:r>
                        <a:rPr lang="en-US" sz="1800" u="none" strike="noStrike" cap="none" dirty="0">
                          <a:latin typeface="Times New Roman" panose="02020603050405020304" pitchFamily="18" charset="0"/>
                          <a:cs typeface="Times New Roman" panose="02020603050405020304" pitchFamily="18" charset="0"/>
                        </a:rPr>
                        <a:t>20221CSE0591                           </a:t>
                      </a:r>
                    </a:p>
                    <a:p>
                      <a:pPr marL="0" marR="0" lvl="0" indent="0" algn="ctr" rtl="0">
                        <a:spcBef>
                          <a:spcPts val="0"/>
                        </a:spcBef>
                        <a:spcAft>
                          <a:spcPts val="0"/>
                        </a:spcAft>
                        <a:buFont typeface="+mj-lt"/>
                        <a:buNone/>
                      </a:pPr>
                      <a:r>
                        <a:rPr lang="en-US" sz="1800" u="none" strike="noStrike" cap="none" dirty="0">
                          <a:latin typeface="Times New Roman" panose="02020603050405020304" pitchFamily="18" charset="0"/>
                          <a:cs typeface="Times New Roman" panose="02020603050405020304" pitchFamily="18" charset="0"/>
                        </a:rPr>
                        <a:t>20221CSE0625</a:t>
                      </a:r>
                    </a:p>
                    <a:p>
                      <a:pPr marL="0" marR="0" lvl="0" indent="0" algn="ctr" rtl="0">
                        <a:spcBef>
                          <a:spcPts val="0"/>
                        </a:spcBef>
                        <a:spcAft>
                          <a:spcPts val="0"/>
                        </a:spcAft>
                        <a:buFont typeface="+mj-lt"/>
                        <a:buNone/>
                      </a:pPr>
                      <a:endParaRPr lang="en-US" sz="1800" u="none" strike="noStrike" cap="none" dirty="0">
                        <a:latin typeface="Times New Roman" panose="02020603050405020304" pitchFamily="18" charset="0"/>
                        <a:cs typeface="Times New Roman" panose="02020603050405020304" pitchFamily="18" charset="0"/>
                      </a:endParaRPr>
                    </a:p>
                    <a:p>
                      <a:pPr marL="0" marR="0" lvl="0" indent="0" algn="ctr" rtl="0">
                        <a:spcBef>
                          <a:spcPts val="0"/>
                        </a:spcBef>
                        <a:spcAft>
                          <a:spcPts val="0"/>
                        </a:spcAft>
                        <a:buFont typeface="+mj-lt"/>
                        <a:buNone/>
                      </a:pPr>
                      <a:r>
                        <a:rPr lang="en-US" sz="1800" u="none" strike="noStrike" cap="none" dirty="0">
                          <a:latin typeface="Times New Roman" panose="02020603050405020304" pitchFamily="18" charset="0"/>
                          <a:cs typeface="Times New Roman" panose="02020603050405020304" pitchFamily="18" charset="0"/>
                        </a:rPr>
                        <a:t>20221CSE0622</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Font typeface="+mj-lt"/>
                        <a:buNone/>
                      </a:pPr>
                      <a:r>
                        <a:rPr lang="en-US" sz="1800" u="none" strike="noStrike" cap="none" dirty="0">
                          <a:latin typeface="Times New Roman" panose="02020603050405020304" pitchFamily="18" charset="0"/>
                          <a:cs typeface="Times New Roman" panose="02020603050405020304" pitchFamily="18" charset="0"/>
                        </a:rPr>
                        <a:t>K SUDEEP</a:t>
                      </a:r>
                    </a:p>
                    <a:p>
                      <a:pPr marL="0" marR="0" lvl="0" indent="0" algn="ctr" rtl="0">
                        <a:spcBef>
                          <a:spcPts val="0"/>
                        </a:spcBef>
                        <a:spcAft>
                          <a:spcPts val="0"/>
                        </a:spcAft>
                        <a:buFont typeface="+mj-lt"/>
                        <a:buNone/>
                      </a:pPr>
                      <a:r>
                        <a:rPr lang="en-US" sz="1800" u="none" strike="noStrike" cap="none" dirty="0">
                          <a:latin typeface="Times New Roman" panose="02020603050405020304" pitchFamily="18" charset="0"/>
                          <a:cs typeface="Times New Roman" panose="02020603050405020304" pitchFamily="18" charset="0"/>
                        </a:rPr>
                        <a:t>TEJASWINI VIJAYKUMAR BONGALE</a:t>
                      </a:r>
                    </a:p>
                    <a:p>
                      <a:pPr marL="0" marR="0" lvl="0" indent="0" algn="ctr" rtl="0">
                        <a:spcBef>
                          <a:spcPts val="0"/>
                        </a:spcBef>
                        <a:spcAft>
                          <a:spcPts val="0"/>
                        </a:spcAft>
                        <a:buFont typeface="+mj-lt"/>
                        <a:buNone/>
                      </a:pPr>
                      <a:r>
                        <a:rPr lang="en-US" sz="1800" u="none" strike="noStrike" cap="none" dirty="0">
                          <a:latin typeface="Times New Roman" panose="02020603050405020304" pitchFamily="18" charset="0"/>
                          <a:cs typeface="Times New Roman" panose="02020603050405020304" pitchFamily="18" charset="0"/>
                        </a:rPr>
                        <a:t>SUVIDHA SHARANAPPA IBERI</a:t>
                      </a:r>
                      <a:endParaRPr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3649531888"/>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Problem Statement Number: </a:t>
            </a:r>
            <a:r>
              <a:rPr lang="en-IN" b="0" dirty="0">
                <a:latin typeface="Times New Roman" panose="02020603050405020304" pitchFamily="18" charset="0"/>
                <a:ea typeface="Cambria" panose="02040503050406030204" pitchFamily="18" charset="0"/>
                <a:cs typeface="Times New Roman" panose="02020603050405020304" pitchFamily="18" charset="0"/>
              </a:rPr>
              <a:t>SIH25049</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sz="1600" b="1" dirty="0">
                <a:latin typeface="Times New Roman" panose="02020603050405020304" pitchFamily="18" charset="0"/>
                <a:ea typeface="Cambria" panose="02040503050406030204" pitchFamily="18" charset="0"/>
                <a:cs typeface="Times New Roman" panose="02020603050405020304" pitchFamily="18" charset="0"/>
              </a:rPr>
              <a:t>Organization: </a:t>
            </a:r>
            <a:r>
              <a:rPr lang="en-US" sz="1600" dirty="0">
                <a:latin typeface="Times New Roman" panose="02020603050405020304" pitchFamily="18" charset="0"/>
                <a:ea typeface="Cambria" panose="02040503050406030204" pitchFamily="18" charset="0"/>
                <a:cs typeface="Times New Roman" panose="02020603050405020304" pitchFamily="18" charset="0"/>
              </a:rPr>
              <a:t>Government of Odisha</a:t>
            </a:r>
          </a:p>
          <a:p>
            <a:pPr marL="342900" lvl="0" indent="-190500" algn="just">
              <a:spcBef>
                <a:spcPts val="0"/>
              </a:spcBef>
              <a:buNone/>
            </a:pPr>
            <a:endParaRPr lang="en-US" sz="1000"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lnSpc>
                <a:spcPct val="200000"/>
              </a:lnSpc>
              <a:spcBef>
                <a:spcPts val="0"/>
              </a:spcBef>
              <a:buNone/>
            </a:pPr>
            <a:r>
              <a:rPr lang="en-US" sz="1600" b="1" dirty="0">
                <a:latin typeface="Times New Roman" panose="02020603050405020304" pitchFamily="18" charset="0"/>
                <a:ea typeface="Cambria" panose="02040503050406030204" pitchFamily="18" charset="0"/>
                <a:cs typeface="Times New Roman" panose="02020603050405020304" pitchFamily="18" charset="0"/>
              </a:rPr>
              <a:t>Category (Hardware / Software / Both) : </a:t>
            </a:r>
            <a:r>
              <a:rPr lang="en-US" sz="1600" dirty="0">
                <a:latin typeface="Times New Roman" panose="02020603050405020304" pitchFamily="18" charset="0"/>
                <a:ea typeface="Cambria" panose="02040503050406030204" pitchFamily="18" charset="0"/>
                <a:cs typeface="Times New Roman" panose="02020603050405020304" pitchFamily="18" charset="0"/>
              </a:rPr>
              <a:t>Software</a:t>
            </a:r>
          </a:p>
          <a:p>
            <a:pPr marL="342900" lvl="0" indent="-190500" algn="just">
              <a:lnSpc>
                <a:spcPct val="200000"/>
              </a:lnSpc>
              <a:spcBef>
                <a:spcPts val="0"/>
              </a:spcBef>
              <a:buNone/>
            </a:pPr>
            <a:endParaRPr lang="en-US" sz="600"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lnSpc>
                <a:spcPct val="200000"/>
              </a:lnSpc>
              <a:spcBef>
                <a:spcPts val="0"/>
              </a:spcBef>
              <a:buNone/>
            </a:pPr>
            <a:r>
              <a:rPr lang="en-US" sz="1600" b="1" dirty="0">
                <a:latin typeface="Times New Roman" panose="02020603050405020304" pitchFamily="18" charset="0"/>
                <a:ea typeface="Cambria" panose="02040503050406030204" pitchFamily="18" charset="0"/>
                <a:cs typeface="Times New Roman" panose="02020603050405020304" pitchFamily="18" charset="0"/>
              </a:rPr>
              <a:t>Problem Description:  </a:t>
            </a:r>
            <a:r>
              <a:rPr lang="en-US" sz="1600" dirty="0">
                <a:latin typeface="Times New Roman" panose="02020603050405020304" pitchFamily="18" charset="0"/>
                <a:ea typeface="Cambria" panose="02040503050406030204" pitchFamily="18" charset="0"/>
                <a:cs typeface="Times New Roman" panose="02020603050405020304" pitchFamily="18" charset="0"/>
              </a:rPr>
              <a:t>Public health awareness is essential for preventing diseases, but many people lack access to accurate and reliable medical information. Existing online sources often provide incomplete or misleading content, leading to confusion and poor health decisions. Healthcare professionals are also overburdened and cannot address general disease-related queries at all times. This creates a gap between medical knowledge and its accessibility to the public. An AI-driven public health chatbot can provide instant, reliable, and awareness-level information on diseases. Such a system helps improve health literacy, reduce misinformation, and support public health education.</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p14"/>
          <p:cNvSpPr txBox="1">
            <a:spLocks noGrp="1"/>
          </p:cNvSpPr>
          <p:nvPr>
            <p:ph type="body" idx="1"/>
          </p:nvPr>
        </p:nvSpPr>
        <p:spPr>
          <a:xfrm>
            <a:off x="655782" y="1061883"/>
            <a:ext cx="10668000" cy="5299588"/>
          </a:xfrm>
          <a:prstGeom prst="rect">
            <a:avLst/>
          </a:prstGeom>
          <a:noFill/>
          <a:ln>
            <a:noFill/>
          </a:ln>
        </p:spPr>
        <p:txBody>
          <a:bodyPr spcFirstLastPara="1" wrap="square" lIns="91425" tIns="45700" rIns="91425" bIns="45700" anchor="t" anchorCtr="0">
            <a:normAutofit/>
          </a:bodyPr>
          <a:lstStyle/>
          <a:p>
            <a:pPr marL="152400" indent="0" algn="just">
              <a:lnSpc>
                <a:spcPct val="200000"/>
              </a:lnSpc>
              <a:spcBef>
                <a:spcPts val="0"/>
              </a:spcBef>
              <a:buNone/>
            </a:pPr>
            <a:r>
              <a:rPr lang="en-US" sz="1600" b="1" dirty="0">
                <a:latin typeface="Times New Roman" panose="02020603050405020304" pitchFamily="18" charset="0"/>
                <a:ea typeface="Cambria" panose="02040503050406030204" pitchFamily="18" charset="0"/>
                <a:cs typeface="Times New Roman" panose="02020603050405020304" pitchFamily="18" charset="0"/>
              </a:rPr>
              <a:t>Problem Statement: </a:t>
            </a:r>
            <a:r>
              <a:rPr lang="en-US" sz="1600" dirty="0">
                <a:latin typeface="Times New Roman" panose="02020603050405020304" pitchFamily="18" charset="0"/>
                <a:ea typeface="Cambria" panose="02040503050406030204" pitchFamily="18" charset="0"/>
                <a:cs typeface="Times New Roman" panose="02020603050405020304" pitchFamily="18" charset="0"/>
              </a:rPr>
              <a:t>Lack of accessible and reliable public health information leads to misinformation and poor awareness about common diseases. An AI-driven public health chatbot can provide accurate, real-time disease awareness and preventive guidance to the public.</a:t>
            </a:r>
          </a:p>
          <a:p>
            <a:pPr marL="152400" indent="0" algn="just">
              <a:lnSpc>
                <a:spcPct val="200000"/>
              </a:lnSpc>
              <a:spcBef>
                <a:spcPts val="0"/>
              </a:spcBef>
              <a:buNone/>
            </a:pPr>
            <a:endParaRPr lang="en-US" sz="800" b="1" dirty="0">
              <a:latin typeface="Times New Roman" panose="02020603050405020304" pitchFamily="18" charset="0"/>
              <a:ea typeface="Cambria" panose="02040503050406030204" pitchFamily="18" charset="0"/>
              <a:cs typeface="Times New Roman" panose="02020603050405020304" pitchFamily="18" charset="0"/>
            </a:endParaRPr>
          </a:p>
          <a:p>
            <a:pPr marL="152400" lvl="0" indent="0" algn="just" rtl="0">
              <a:lnSpc>
                <a:spcPct val="200000"/>
              </a:lnSpc>
              <a:spcBef>
                <a:spcPts val="0"/>
              </a:spcBef>
              <a:spcAft>
                <a:spcPts val="0"/>
              </a:spcAft>
              <a:buClr>
                <a:schemeClr val="dk1"/>
              </a:buClr>
              <a:buSzPts val="2400"/>
              <a:buNone/>
            </a:pPr>
            <a:r>
              <a:rPr lang="en-US" sz="1600" b="1" dirty="0">
                <a:latin typeface="Times New Roman" panose="02020603050405020304" pitchFamily="18" charset="0"/>
                <a:ea typeface="Cambria" panose="02040503050406030204" pitchFamily="18" charset="0"/>
                <a:cs typeface="Times New Roman" panose="02020603050405020304" pitchFamily="18" charset="0"/>
              </a:rPr>
              <a:t>Objectives:  </a:t>
            </a:r>
          </a:p>
          <a:p>
            <a:pPr marL="438150" lvl="0" indent="-285750" algn="just">
              <a:lnSpc>
                <a:spcPct val="200000"/>
              </a:lnSpc>
              <a:spcBef>
                <a:spcPts val="0"/>
              </a:spcBef>
              <a:buFont typeface="Arial" panose="020B0604020202020204" pitchFamily="34" charset="0"/>
              <a:buChar char="•"/>
            </a:pPr>
            <a:r>
              <a:rPr lang="en-US" sz="1600" dirty="0">
                <a:latin typeface="Times New Roman" panose="02020603050405020304" pitchFamily="18" charset="0"/>
                <a:ea typeface="Cambria" panose="02040503050406030204" pitchFamily="18" charset="0"/>
                <a:cs typeface="Times New Roman" panose="02020603050405020304" pitchFamily="18" charset="0"/>
              </a:rPr>
              <a:t>To develop an AI-based chatbot for public health disease awareness</a:t>
            </a:r>
          </a:p>
          <a:p>
            <a:pPr marL="438150" lvl="0" indent="-285750" algn="just">
              <a:lnSpc>
                <a:spcPct val="200000"/>
              </a:lnSpc>
              <a:spcBef>
                <a:spcPts val="0"/>
              </a:spcBef>
              <a:buFont typeface="Arial" panose="020B0604020202020204" pitchFamily="34" charset="0"/>
              <a:buChar char="•"/>
            </a:pPr>
            <a:r>
              <a:rPr lang="en-US" sz="1600" dirty="0">
                <a:latin typeface="Times New Roman" panose="02020603050405020304" pitchFamily="18" charset="0"/>
                <a:ea typeface="Cambria" panose="02040503050406030204" pitchFamily="18" charset="0"/>
                <a:cs typeface="Times New Roman" panose="02020603050405020304" pitchFamily="18" charset="0"/>
              </a:rPr>
              <a:t>To provide reliable information on symptoms, causes, and prevention of diseases</a:t>
            </a:r>
          </a:p>
          <a:p>
            <a:pPr marL="438150" lvl="0" indent="-285750" algn="just">
              <a:lnSpc>
                <a:spcPct val="200000"/>
              </a:lnSpc>
              <a:spcBef>
                <a:spcPts val="0"/>
              </a:spcBef>
              <a:buFont typeface="Arial" panose="020B0604020202020204" pitchFamily="34" charset="0"/>
              <a:buChar char="•"/>
            </a:pPr>
            <a:r>
              <a:rPr lang="en-US" sz="1600" dirty="0">
                <a:latin typeface="Times New Roman" panose="02020603050405020304" pitchFamily="18" charset="0"/>
                <a:ea typeface="Cambria" panose="02040503050406030204" pitchFamily="18" charset="0"/>
                <a:cs typeface="Times New Roman" panose="02020603050405020304" pitchFamily="18" charset="0"/>
              </a:rPr>
              <a:t>To improve public accessibility to healthcare knowledge</a:t>
            </a:r>
          </a:p>
          <a:p>
            <a:pPr marL="438150" lvl="0" indent="-285750" algn="just">
              <a:lnSpc>
                <a:spcPct val="200000"/>
              </a:lnSpc>
              <a:spcBef>
                <a:spcPts val="0"/>
              </a:spcBef>
              <a:buFont typeface="Arial" panose="020B0604020202020204" pitchFamily="34" charset="0"/>
              <a:buChar char="•"/>
            </a:pPr>
            <a:r>
              <a:rPr lang="en-US" sz="1600" dirty="0">
                <a:latin typeface="Times New Roman" panose="02020603050405020304" pitchFamily="18" charset="0"/>
                <a:ea typeface="Cambria" panose="02040503050406030204" pitchFamily="18" charset="0"/>
                <a:cs typeface="Times New Roman" panose="02020603050405020304" pitchFamily="18" charset="0"/>
              </a:rPr>
              <a:t>To reduce misinformation related to diseases</a:t>
            </a:r>
          </a:p>
          <a:p>
            <a:pPr marL="438150" lvl="0" indent="-285750" algn="just">
              <a:lnSpc>
                <a:spcPct val="200000"/>
              </a:lnSpc>
              <a:spcBef>
                <a:spcPts val="0"/>
              </a:spcBef>
              <a:buFont typeface="Arial" panose="020B0604020202020204" pitchFamily="34" charset="0"/>
              <a:buChar char="•"/>
            </a:pPr>
            <a:r>
              <a:rPr lang="en-US" sz="1600" dirty="0">
                <a:latin typeface="Times New Roman" panose="02020603050405020304" pitchFamily="18" charset="0"/>
                <a:ea typeface="Cambria" panose="02040503050406030204" pitchFamily="18" charset="0"/>
                <a:cs typeface="Times New Roman" panose="02020603050405020304" pitchFamily="18" charset="0"/>
              </a:rPr>
              <a:t>To support multilingual interaction for wider reach</a:t>
            </a:r>
          </a:p>
          <a:p>
            <a:pPr marL="152400" lvl="0" indent="0" algn="just">
              <a:lnSpc>
                <a:spcPct val="200000"/>
              </a:lnSpc>
              <a:spcBef>
                <a:spcPts val="0"/>
              </a:spcBef>
              <a:buNone/>
            </a:pPr>
            <a:endParaRPr lang="en-US" b="1" dirty="0">
              <a:latin typeface="Cambria" panose="02040503050406030204" pitchFamily="18" charset="0"/>
              <a:ea typeface="Cambria" panose="02040503050406030204" pitchFamily="18" charset="0"/>
            </a:endParaRPr>
          </a:p>
          <a:p>
            <a:pPr marL="152400" lvl="0" indent="0" algn="just" rtl="0">
              <a:lnSpc>
                <a:spcPct val="200000"/>
              </a:lnSpc>
              <a:spcBef>
                <a:spcPts val="0"/>
              </a:spcBef>
              <a:spcAft>
                <a:spcPts val="0"/>
              </a:spcAft>
              <a:buClr>
                <a:schemeClr val="dk1"/>
              </a:buClr>
              <a:buSzPts val="2400"/>
              <a:buNone/>
            </a:pPr>
            <a:endParaRPr lang="en-US" b="1"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IN" dirty="0">
                <a:latin typeface="Times New Roman" panose="02020603050405020304" pitchFamily="18" charset="0"/>
                <a:ea typeface="Cambria" panose="02040503050406030204" pitchFamily="18" charset="0"/>
                <a:cs typeface="Times New Roman" panose="02020603050405020304" pitchFamily="18" charset="0"/>
              </a:rPr>
              <a:t>ANALYSIS OF PROBLEM STATEMENT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812800" y="1081548"/>
            <a:ext cx="10668000" cy="4358185"/>
          </a:xfrm>
          <a:prstGeom prst="rect">
            <a:avLst/>
          </a:prstGeom>
          <a:noFill/>
          <a:ln>
            <a:noFill/>
          </a:ln>
        </p:spPr>
        <p:txBody>
          <a:bodyPr spcFirstLastPara="1" wrap="square" lIns="91425" tIns="45700" rIns="91425" bIns="45700" anchor="t" anchorCtr="0">
            <a:normAutofit lnSpcReduction="10000"/>
          </a:bodyPr>
          <a:lstStyle/>
          <a:p>
            <a:r>
              <a:rPr lang="en-US" sz="1600" dirty="0">
                <a:latin typeface="Times New Roman" panose="02020603050405020304" pitchFamily="18" charset="0"/>
                <a:ea typeface="Cambria" panose="02040503050406030204" pitchFamily="18" charset="0"/>
                <a:cs typeface="Times New Roman" panose="02020603050405020304" pitchFamily="18" charset="0"/>
              </a:rPr>
              <a:t>Lack of instant access to verified medical information</a:t>
            </a:r>
          </a:p>
          <a:p>
            <a:r>
              <a:rPr lang="en-US" sz="1600" dirty="0">
                <a:latin typeface="Times New Roman" panose="02020603050405020304" pitchFamily="18" charset="0"/>
                <a:ea typeface="Cambria" panose="02040503050406030204" pitchFamily="18" charset="0"/>
                <a:cs typeface="Times New Roman" panose="02020603050405020304" pitchFamily="18" charset="0"/>
              </a:rPr>
              <a:t>Overburdened healthcare professionals</a:t>
            </a:r>
          </a:p>
          <a:p>
            <a:r>
              <a:rPr lang="en-US" sz="1600" dirty="0">
                <a:latin typeface="Times New Roman" panose="02020603050405020304" pitchFamily="18" charset="0"/>
                <a:ea typeface="Cambria" panose="02040503050406030204" pitchFamily="18" charset="0"/>
                <a:cs typeface="Times New Roman" panose="02020603050405020304" pitchFamily="18" charset="0"/>
              </a:rPr>
              <a:t>Spread of misinformation on social media</a:t>
            </a:r>
          </a:p>
          <a:p>
            <a:r>
              <a:rPr lang="en-US" sz="1600" dirty="0">
                <a:latin typeface="Times New Roman" panose="02020603050405020304" pitchFamily="18" charset="0"/>
                <a:ea typeface="Cambria" panose="02040503050406030204" pitchFamily="18" charset="0"/>
                <a:cs typeface="Times New Roman" panose="02020603050405020304" pitchFamily="18" charset="0"/>
              </a:rPr>
              <a:t>Language barriers in accessing health information</a:t>
            </a:r>
          </a:p>
          <a:p>
            <a:pPr marL="76200" indent="0">
              <a:buNone/>
            </a:pPr>
            <a:endParaRPr lang="en-US" sz="1600" dirty="0">
              <a:latin typeface="Times New Roman" panose="02020603050405020304" pitchFamily="18" charset="0"/>
              <a:ea typeface="Cambria" panose="02040503050406030204" pitchFamily="18" charset="0"/>
              <a:cs typeface="Times New Roman" panose="02020603050405020304" pitchFamily="18" charset="0"/>
            </a:endParaRPr>
          </a:p>
          <a:p>
            <a:pPr marL="76200" indent="0">
              <a:buNone/>
            </a:pPr>
            <a:r>
              <a:rPr lang="en-US" sz="1600" b="1" dirty="0">
                <a:latin typeface="Times New Roman" panose="02020603050405020304" pitchFamily="18" charset="0"/>
                <a:ea typeface="Cambria" panose="02040503050406030204" pitchFamily="18" charset="0"/>
                <a:cs typeface="Times New Roman" panose="02020603050405020304" pitchFamily="18" charset="0"/>
              </a:rPr>
              <a:t>Proposed Solution:</a:t>
            </a:r>
          </a:p>
          <a:p>
            <a:pPr marL="76200" indent="0">
              <a:buNone/>
            </a:pPr>
            <a:r>
              <a:rPr lang="en-US" sz="1600" dirty="0">
                <a:latin typeface="Times New Roman" panose="02020603050405020304" pitchFamily="18" charset="0"/>
                <a:ea typeface="Cambria" panose="02040503050406030204" pitchFamily="18" charset="0"/>
                <a:cs typeface="Times New Roman" panose="02020603050405020304" pitchFamily="18" charset="0"/>
              </a:rPr>
              <a:t>An AI chatbot that interacts with users, understands health-related queries, and provides accurate awareness-level responses.</a:t>
            </a:r>
          </a:p>
          <a:p>
            <a:pPr marL="76200" indent="0">
              <a:buNone/>
            </a:pPr>
            <a:endParaRPr lang="en-US" sz="1600" dirty="0">
              <a:latin typeface="Times New Roman" panose="02020603050405020304" pitchFamily="18" charset="0"/>
              <a:ea typeface="Cambria" panose="02040503050406030204" pitchFamily="18" charset="0"/>
              <a:cs typeface="Times New Roman" panose="02020603050405020304" pitchFamily="18" charset="0"/>
            </a:endParaRPr>
          </a:p>
          <a:p>
            <a:pPr marL="76200" indent="0">
              <a:buNone/>
            </a:pPr>
            <a:r>
              <a:rPr lang="en-IN" sz="1700" b="1" dirty="0">
                <a:latin typeface="Times New Roman" panose="02020603050405020304" pitchFamily="18" charset="0"/>
                <a:ea typeface="Cambria" panose="02040503050406030204" pitchFamily="18" charset="0"/>
                <a:cs typeface="Times New Roman" panose="02020603050405020304" pitchFamily="18" charset="0"/>
              </a:rPr>
              <a:t>Technology Stack Components:</a:t>
            </a:r>
          </a:p>
          <a:p>
            <a:r>
              <a:rPr lang="en-IN" sz="1700" b="1" dirty="0">
                <a:latin typeface="Times New Roman" panose="02020603050405020304" pitchFamily="18" charset="0"/>
                <a:ea typeface="Cambria" panose="02040503050406030204" pitchFamily="18" charset="0"/>
                <a:cs typeface="Times New Roman" panose="02020603050405020304" pitchFamily="18" charset="0"/>
              </a:rPr>
              <a:t>Frontend:</a:t>
            </a:r>
            <a:r>
              <a:rPr lang="en-IN" sz="1700" dirty="0">
                <a:latin typeface="Times New Roman" panose="02020603050405020304" pitchFamily="18" charset="0"/>
                <a:ea typeface="Cambria" panose="02040503050406030204" pitchFamily="18" charset="0"/>
                <a:cs typeface="Times New Roman" panose="02020603050405020304" pitchFamily="18" charset="0"/>
              </a:rPr>
              <a:t> HTML, CSS, JavaScript</a:t>
            </a:r>
          </a:p>
          <a:p>
            <a:r>
              <a:rPr lang="en-IN" sz="1700" b="1" dirty="0">
                <a:latin typeface="Times New Roman" panose="02020603050405020304" pitchFamily="18" charset="0"/>
                <a:ea typeface="Cambria" panose="02040503050406030204" pitchFamily="18" charset="0"/>
                <a:cs typeface="Times New Roman" panose="02020603050405020304" pitchFamily="18" charset="0"/>
              </a:rPr>
              <a:t>Backend:</a:t>
            </a:r>
            <a:r>
              <a:rPr lang="en-IN" sz="1700" dirty="0">
                <a:latin typeface="Times New Roman" panose="02020603050405020304" pitchFamily="18" charset="0"/>
                <a:ea typeface="Cambria" panose="02040503050406030204" pitchFamily="18" charset="0"/>
                <a:cs typeface="Times New Roman" panose="02020603050405020304" pitchFamily="18" charset="0"/>
              </a:rPr>
              <a:t> Python (Flask / </a:t>
            </a:r>
            <a:r>
              <a:rPr lang="en-IN" sz="1700" dirty="0" err="1">
                <a:latin typeface="Times New Roman" panose="02020603050405020304" pitchFamily="18" charset="0"/>
                <a:ea typeface="Cambria" panose="02040503050406030204" pitchFamily="18" charset="0"/>
                <a:cs typeface="Times New Roman" panose="02020603050405020304" pitchFamily="18" charset="0"/>
              </a:rPr>
              <a:t>FastAPI</a:t>
            </a:r>
            <a:r>
              <a:rPr lang="en-IN" sz="1700" dirty="0">
                <a:latin typeface="Times New Roman" panose="02020603050405020304" pitchFamily="18" charset="0"/>
                <a:ea typeface="Cambria" panose="02040503050406030204" pitchFamily="18" charset="0"/>
                <a:cs typeface="Times New Roman" panose="02020603050405020304" pitchFamily="18" charset="0"/>
              </a:rPr>
              <a:t>)</a:t>
            </a:r>
          </a:p>
          <a:p>
            <a:r>
              <a:rPr lang="en-IN" sz="1700" b="1" dirty="0">
                <a:latin typeface="Times New Roman" panose="02020603050405020304" pitchFamily="18" charset="0"/>
                <a:ea typeface="Cambria" panose="02040503050406030204" pitchFamily="18" charset="0"/>
                <a:cs typeface="Times New Roman" panose="02020603050405020304" pitchFamily="18" charset="0"/>
              </a:rPr>
              <a:t>AI/NLP:</a:t>
            </a:r>
            <a:r>
              <a:rPr lang="en-IN" sz="1700" dirty="0">
                <a:latin typeface="Times New Roman" panose="02020603050405020304" pitchFamily="18" charset="0"/>
                <a:ea typeface="Cambria" panose="02040503050406030204" pitchFamily="18" charset="0"/>
                <a:cs typeface="Times New Roman" panose="02020603050405020304" pitchFamily="18" charset="0"/>
              </a:rPr>
              <a:t> Machine Learning, NLP (NLTK / </a:t>
            </a:r>
            <a:r>
              <a:rPr lang="en-IN" sz="1700" dirty="0" err="1">
                <a:latin typeface="Times New Roman" panose="02020603050405020304" pitchFamily="18" charset="0"/>
                <a:ea typeface="Cambria" panose="02040503050406030204" pitchFamily="18" charset="0"/>
                <a:cs typeface="Times New Roman" panose="02020603050405020304" pitchFamily="18" charset="0"/>
              </a:rPr>
              <a:t>SpaCy</a:t>
            </a:r>
            <a:r>
              <a:rPr lang="en-IN" sz="1700" dirty="0">
                <a:latin typeface="Times New Roman" panose="02020603050405020304" pitchFamily="18" charset="0"/>
                <a:ea typeface="Cambria" panose="02040503050406030204" pitchFamily="18" charset="0"/>
                <a:cs typeface="Times New Roman" panose="02020603050405020304" pitchFamily="18" charset="0"/>
              </a:rPr>
              <a:t> / Transformers)</a:t>
            </a:r>
          </a:p>
          <a:p>
            <a:r>
              <a:rPr lang="en-IN" sz="1700" b="1" dirty="0">
                <a:latin typeface="Times New Roman" panose="02020603050405020304" pitchFamily="18" charset="0"/>
                <a:ea typeface="Cambria" panose="02040503050406030204" pitchFamily="18" charset="0"/>
                <a:cs typeface="Times New Roman" panose="02020603050405020304" pitchFamily="18" charset="0"/>
              </a:rPr>
              <a:t>Database:</a:t>
            </a:r>
            <a:r>
              <a:rPr lang="en-IN" sz="1700" dirty="0">
                <a:latin typeface="Times New Roman" panose="02020603050405020304" pitchFamily="18" charset="0"/>
                <a:ea typeface="Cambria" panose="02040503050406030204" pitchFamily="18" charset="0"/>
                <a:cs typeface="Times New Roman" panose="02020603050405020304" pitchFamily="18" charset="0"/>
              </a:rPr>
              <a:t> MySQL / MongoDB</a:t>
            </a:r>
          </a:p>
          <a:p>
            <a:r>
              <a:rPr lang="en-IN" sz="1700" b="1" dirty="0">
                <a:latin typeface="Times New Roman" panose="02020603050405020304" pitchFamily="18" charset="0"/>
                <a:ea typeface="Cambria" panose="02040503050406030204" pitchFamily="18" charset="0"/>
                <a:cs typeface="Times New Roman" panose="02020603050405020304" pitchFamily="18" charset="0"/>
              </a:rPr>
              <a:t>Deployment:</a:t>
            </a:r>
            <a:r>
              <a:rPr lang="en-IN" sz="1700" dirty="0">
                <a:latin typeface="Times New Roman" panose="02020603050405020304" pitchFamily="18" charset="0"/>
                <a:ea typeface="Cambria" panose="02040503050406030204" pitchFamily="18" charset="0"/>
                <a:cs typeface="Times New Roman" panose="02020603050405020304" pitchFamily="18" charset="0"/>
              </a:rPr>
              <a:t> Cloud / Local Server</a:t>
            </a:r>
          </a:p>
          <a:p>
            <a:pPr marL="152400" lvl="0" indent="0" algn="just" rtl="0">
              <a:lnSpc>
                <a:spcPct val="200000"/>
              </a:lnSpc>
              <a:spcBef>
                <a:spcPts val="0"/>
              </a:spcBef>
              <a:spcAft>
                <a:spcPts val="0"/>
              </a:spcAft>
              <a:buClr>
                <a:schemeClr val="dk1"/>
              </a:buClr>
              <a:buSzPts val="24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IN" dirty="0">
                <a:latin typeface="Times New Roman" panose="02020603050405020304" pitchFamily="18" charset="0"/>
                <a:cs typeface="Times New Roman" panose="02020603050405020304" pitchFamily="18" charset="0"/>
              </a:rPr>
              <a:t>INNOVATION / NOVEL CONTRIBUTIONS</a:t>
            </a:r>
          </a:p>
        </p:txBody>
      </p:sp>
      <p:sp>
        <p:nvSpPr>
          <p:cNvPr id="115" name="Google Shape;115;p17"/>
          <p:cNvSpPr txBox="1">
            <a:spLocks noGrp="1"/>
          </p:cNvSpPr>
          <p:nvPr>
            <p:ph type="body" idx="1"/>
          </p:nvPr>
        </p:nvSpPr>
        <p:spPr>
          <a:xfrm>
            <a:off x="812800" y="1070487"/>
            <a:ext cx="10668000" cy="4953000"/>
          </a:xfrm>
          <a:prstGeom prst="rect">
            <a:avLst/>
          </a:prstGeom>
          <a:noFill/>
          <a:ln>
            <a:noFill/>
          </a:ln>
        </p:spPr>
        <p:txBody>
          <a:bodyPr spcFirstLastPara="1" wrap="square" lIns="91425" tIns="45700" rIns="91425" bIns="45700" anchor="t" anchorCtr="0">
            <a:normAutofit lnSpcReduction="10000"/>
          </a:bodyPr>
          <a:lstStyle/>
          <a:p>
            <a:pPr marL="76200" indent="0">
              <a:buNone/>
            </a:pPr>
            <a:r>
              <a:rPr lang="en-US" sz="1600" b="1" dirty="0">
                <a:latin typeface="Times New Roman" panose="02020603050405020304" pitchFamily="18" charset="0"/>
                <a:cs typeface="Times New Roman" panose="02020603050405020304" pitchFamily="18" charset="0"/>
              </a:rPr>
              <a:t>1. AI-Based Conversational Disease Awareness System</a:t>
            </a:r>
          </a:p>
          <a:p>
            <a:pPr marL="76200" indent="0">
              <a:buNone/>
            </a:pPr>
            <a:r>
              <a:rPr lang="en-US" sz="1600" dirty="0">
                <a:latin typeface="Times New Roman" panose="02020603050405020304" pitchFamily="18" charset="0"/>
                <a:cs typeface="Times New Roman" panose="02020603050405020304" pitchFamily="18" charset="0"/>
              </a:rPr>
              <a:t>Provides intelligent, awareness-level information about diseases using AI and NLP to understand user queries and deliver accurate responses.</a:t>
            </a:r>
          </a:p>
          <a:p>
            <a:pPr marL="76200" indent="0">
              <a:buNone/>
            </a:pPr>
            <a:endParaRPr lang="en-US" sz="1000" dirty="0">
              <a:latin typeface="Times New Roman" panose="02020603050405020304" pitchFamily="18" charset="0"/>
              <a:cs typeface="Times New Roman" panose="02020603050405020304" pitchFamily="18" charset="0"/>
            </a:endParaRPr>
          </a:p>
          <a:p>
            <a:pPr marL="76200" indent="0">
              <a:buNone/>
            </a:pPr>
            <a:r>
              <a:rPr lang="en-US" sz="1600" b="1" dirty="0">
                <a:latin typeface="Times New Roman" panose="02020603050405020304" pitchFamily="18" charset="0"/>
                <a:cs typeface="Times New Roman" panose="02020603050405020304" pitchFamily="18" charset="0"/>
              </a:rPr>
              <a:t>2. Real-Time Interactive Responses</a:t>
            </a:r>
          </a:p>
          <a:p>
            <a:pPr marL="76200" indent="0">
              <a:buNone/>
            </a:pPr>
            <a:r>
              <a:rPr lang="en-US" sz="1600" dirty="0">
                <a:latin typeface="Times New Roman" panose="02020603050405020304" pitchFamily="18" charset="0"/>
                <a:cs typeface="Times New Roman" panose="02020603050405020304" pitchFamily="18" charset="0"/>
              </a:rPr>
              <a:t>Enables instant interaction with users by processing queries in real time, ensuring quick and reliable disease-related guidance.</a:t>
            </a:r>
          </a:p>
          <a:p>
            <a:pPr marL="76200" indent="0">
              <a:buNone/>
            </a:pPr>
            <a:endParaRPr lang="en-US" sz="1000" dirty="0">
              <a:latin typeface="Times New Roman" panose="02020603050405020304" pitchFamily="18" charset="0"/>
              <a:cs typeface="Times New Roman" panose="02020603050405020304" pitchFamily="18" charset="0"/>
            </a:endParaRPr>
          </a:p>
          <a:p>
            <a:pPr marL="76200" indent="0">
              <a:buNone/>
            </a:pPr>
            <a:r>
              <a:rPr lang="en-US" sz="1600" b="1" dirty="0">
                <a:latin typeface="Times New Roman" panose="02020603050405020304" pitchFamily="18" charset="0"/>
                <a:cs typeface="Times New Roman" panose="02020603050405020304" pitchFamily="18" charset="0"/>
              </a:rPr>
              <a:t>3. User-Friendly Interface for Non-Technical Users</a:t>
            </a:r>
          </a:p>
          <a:p>
            <a:pPr marL="76200" indent="0">
              <a:buNone/>
            </a:pPr>
            <a:r>
              <a:rPr lang="en-US" sz="1600" dirty="0">
                <a:latin typeface="Times New Roman" panose="02020603050405020304" pitchFamily="18" charset="0"/>
                <a:cs typeface="Times New Roman" panose="02020603050405020304" pitchFamily="18" charset="0"/>
              </a:rPr>
              <a:t>Designed with a simple and intuitive interface that allows people of all age groups and technical backgrounds to access health information easily.</a:t>
            </a:r>
          </a:p>
          <a:p>
            <a:pPr marL="76200" indent="0">
              <a:buNone/>
            </a:pPr>
            <a:endParaRPr lang="en-US" sz="1000" dirty="0">
              <a:latin typeface="Times New Roman" panose="02020603050405020304" pitchFamily="18" charset="0"/>
              <a:cs typeface="Times New Roman" panose="02020603050405020304" pitchFamily="18" charset="0"/>
            </a:endParaRPr>
          </a:p>
          <a:p>
            <a:pPr marL="76200" indent="0">
              <a:buNone/>
            </a:pPr>
            <a:r>
              <a:rPr lang="en-US" sz="1600" b="1" dirty="0">
                <a:latin typeface="Times New Roman" panose="02020603050405020304" pitchFamily="18" charset="0"/>
                <a:cs typeface="Times New Roman" panose="02020603050405020304" pitchFamily="18" charset="0"/>
              </a:rPr>
              <a:t>4. Scalable Architecture for Future Healthcare Integrations</a:t>
            </a:r>
          </a:p>
          <a:p>
            <a:pPr marL="76200" indent="0">
              <a:buNone/>
            </a:pPr>
            <a:r>
              <a:rPr lang="en-US" sz="1600" dirty="0">
                <a:latin typeface="Times New Roman" panose="02020603050405020304" pitchFamily="18" charset="0"/>
                <a:cs typeface="Times New Roman" panose="02020603050405020304" pitchFamily="18" charset="0"/>
              </a:rPr>
              <a:t>Built with a modular and scalable design to support future enhancements such as hospital systems, APIs, and advanced AI models.</a:t>
            </a:r>
          </a:p>
          <a:p>
            <a:pPr marL="76200" indent="0">
              <a:buNone/>
            </a:pPr>
            <a:endParaRPr lang="en-US" sz="1000" dirty="0">
              <a:latin typeface="Times New Roman" panose="02020603050405020304" pitchFamily="18" charset="0"/>
              <a:cs typeface="Times New Roman" panose="02020603050405020304" pitchFamily="18" charset="0"/>
            </a:endParaRPr>
          </a:p>
          <a:p>
            <a:pPr marL="76200" indent="0">
              <a:buNone/>
            </a:pPr>
            <a:r>
              <a:rPr lang="en-US" sz="1600" b="1" dirty="0">
                <a:latin typeface="Times New Roman" panose="02020603050405020304" pitchFamily="18" charset="0"/>
                <a:cs typeface="Times New Roman" panose="02020603050405020304" pitchFamily="18" charset="0"/>
              </a:rPr>
              <a:t>5. Multilingual Support (Future Enhancement)</a:t>
            </a:r>
          </a:p>
          <a:p>
            <a:pPr marL="76200" indent="0">
              <a:buNone/>
            </a:pPr>
            <a:r>
              <a:rPr lang="en-US" sz="1600" dirty="0">
                <a:latin typeface="Times New Roman" panose="02020603050405020304" pitchFamily="18" charset="0"/>
                <a:cs typeface="Times New Roman" panose="02020603050405020304" pitchFamily="18" charset="0"/>
              </a:rPr>
              <a:t>Supports multiple regional and global languages to improve accessibility and reach a wider population across diverse linguistic backgrounds.</a:t>
            </a:r>
          </a:p>
          <a:p>
            <a:pPr marL="76200" indent="0">
              <a:buNone/>
            </a:pPr>
            <a:endParaRPr lang="en-US" sz="1600" dirty="0"/>
          </a:p>
        </p:txBody>
      </p:sp>
    </p:spTree>
    <p:extLst>
      <p:ext uri="{BB962C8B-B14F-4D97-AF65-F5344CB8AC3E}">
        <p14:creationId xmlns:p14="http://schemas.microsoft.com/office/powerpoint/2010/main" val="103081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DF1CE-EAAC-39C9-4A0A-BB10E43EB746}"/>
              </a:ext>
            </a:extLst>
          </p:cNvPr>
          <p:cNvSpPr>
            <a:spLocks noGrp="1"/>
          </p:cNvSpPr>
          <p:nvPr>
            <p:ph type="title"/>
          </p:nvPr>
        </p:nvSpPr>
        <p:spPr>
          <a:xfrm>
            <a:off x="812800" y="274499"/>
            <a:ext cx="10668000" cy="487500"/>
          </a:xfrm>
        </p:spPr>
        <p:txBody>
          <a:bodyPr/>
          <a:lstStyle/>
          <a:p>
            <a:r>
              <a:rPr lang="en-IN" dirty="0">
                <a:latin typeface="Times New Roman" panose="02020603050405020304" pitchFamily="18" charset="0"/>
                <a:cs typeface="Times New Roman" panose="02020603050405020304" pitchFamily="18" charset="0"/>
              </a:rPr>
              <a:t>Literature Review &amp; Project Overview</a:t>
            </a:r>
          </a:p>
        </p:txBody>
      </p:sp>
      <p:sp>
        <p:nvSpPr>
          <p:cNvPr id="3" name="Text Placeholder 2">
            <a:extLst>
              <a:ext uri="{FF2B5EF4-FFF2-40B4-BE49-F238E27FC236}">
                <a16:creationId xmlns:a16="http://schemas.microsoft.com/office/drawing/2014/main" id="{8770F413-7A2F-03FA-2BB2-2D79E98D0581}"/>
              </a:ext>
            </a:extLst>
          </p:cNvPr>
          <p:cNvSpPr>
            <a:spLocks noGrp="1"/>
          </p:cNvSpPr>
          <p:nvPr>
            <p:ph type="body" idx="1"/>
          </p:nvPr>
        </p:nvSpPr>
        <p:spPr>
          <a:xfrm>
            <a:off x="812800" y="1060654"/>
            <a:ext cx="10668000" cy="4953000"/>
          </a:xfrm>
        </p:spPr>
        <p:txBody>
          <a:bodyPr>
            <a:normAutofit/>
          </a:bodyPr>
          <a:lstStyle/>
          <a:p>
            <a:r>
              <a:rPr lang="en-US" sz="1800" b="1" dirty="0">
                <a:latin typeface="Times New Roman" panose="02020603050405020304" pitchFamily="18" charset="0"/>
                <a:cs typeface="Times New Roman" panose="02020603050405020304" pitchFamily="18" charset="0"/>
              </a:rPr>
              <a:t>Literature Review:</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Recent studies show that AI-based healthcare chatbots using Natural Language Processing (NLP) improve public access to disease-related information and reduce misinformation. Existing systems mainly provide static or limited responses and lack contextual understanding. Research highlights the effectiveness of conversational AI in improving health literacy and user engagement.</a:t>
            </a:r>
          </a:p>
          <a:p>
            <a:pPr marL="76200" indent="0">
              <a:buNone/>
            </a:pPr>
            <a:endParaRPr lang="en-US" sz="16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Project Overview:</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This project proposes an AI-driven public health chatbot that interacts with users in natural language to provide reliable disease awareness, symptoms, causes, and preventive measures. The system leverages NLP and machine learning to deliver accurate, real-time responses through a user-friendly interface.</a:t>
            </a:r>
          </a:p>
          <a:p>
            <a:endParaRPr lang="en-IN" dirty="0"/>
          </a:p>
        </p:txBody>
      </p:sp>
    </p:spTree>
    <p:extLst>
      <p:ext uri="{BB962C8B-B14F-4D97-AF65-F5344CB8AC3E}">
        <p14:creationId xmlns:p14="http://schemas.microsoft.com/office/powerpoint/2010/main" val="2215451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sz="1600" dirty="0">
                <a:latin typeface="Times New Roman" panose="02020603050405020304" pitchFamily="18" charset="0"/>
                <a:ea typeface="Cambria" panose="02040503050406030204" pitchFamily="18" charset="0"/>
                <a:cs typeface="Times New Roman" panose="02020603050405020304" pitchFamily="18" charset="0"/>
              </a:rPr>
              <a:t>The GitHub link provided should have public access permission.</a:t>
            </a:r>
          </a:p>
          <a:p>
            <a:pPr marL="342900" indent="-190500" algn="just">
              <a:spcBef>
                <a:spcPts val="0"/>
              </a:spcBef>
              <a:buSzPct val="100000"/>
              <a:buFont typeface="Arial"/>
              <a:buNone/>
            </a:pPr>
            <a:endParaRPr lang="en-US" sz="1600"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SzPct val="100000"/>
              <a:buFont typeface="Arial"/>
              <a:buNone/>
            </a:pPr>
            <a:r>
              <a:rPr lang="en-US" sz="1600" b="1"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Github Link</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Analysis of Problem Statement (contd...)</a:t>
            </a:r>
          </a:p>
        </p:txBody>
      </p:sp>
      <p:sp>
        <p:nvSpPr>
          <p:cNvPr id="115" name="Google Shape;115;p17"/>
          <p:cNvSpPr txBox="1">
            <a:spLocks noGrp="1"/>
          </p:cNvSpPr>
          <p:nvPr>
            <p:ph type="body" idx="1"/>
          </p:nvPr>
        </p:nvSpPr>
        <p:spPr>
          <a:xfrm>
            <a:off x="812800" y="9525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sz="1800" dirty="0">
                <a:latin typeface="Times New Roman" panose="02020603050405020304" pitchFamily="18" charset="0"/>
                <a:ea typeface="Cambria" panose="02040503050406030204" pitchFamily="18" charset="0"/>
                <a:cs typeface="Times New Roman" panose="02020603050405020304" pitchFamily="18" charset="0"/>
              </a:rPr>
              <a:t>Software and Hardware Requirements: </a:t>
            </a:r>
          </a:p>
          <a:p>
            <a:pPr marL="76200" indent="0">
              <a:buNone/>
            </a:pPr>
            <a:r>
              <a:rPr lang="en-IN" sz="1800" b="1" dirty="0">
                <a:latin typeface="Times New Roman" panose="02020603050405020304" pitchFamily="18" charset="0"/>
                <a:cs typeface="Times New Roman" panose="02020603050405020304" pitchFamily="18" charset="0"/>
              </a:rPr>
              <a:t>Software Requirements:</a:t>
            </a:r>
            <a:endParaRPr lang="en-IN" sz="18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Operating System: Windows / Linux</a:t>
            </a:r>
          </a:p>
          <a:p>
            <a:r>
              <a:rPr lang="en-IN" sz="1600" dirty="0">
                <a:latin typeface="Times New Roman" panose="02020603050405020304" pitchFamily="18" charset="0"/>
                <a:cs typeface="Times New Roman" panose="02020603050405020304" pitchFamily="18" charset="0"/>
              </a:rPr>
              <a:t>Programming Language: Python</a:t>
            </a:r>
          </a:p>
          <a:p>
            <a:r>
              <a:rPr lang="en-IN" sz="1600" dirty="0">
                <a:latin typeface="Times New Roman" panose="02020603050405020304" pitchFamily="18" charset="0"/>
                <a:cs typeface="Times New Roman" panose="02020603050405020304" pitchFamily="18" charset="0"/>
              </a:rPr>
              <a:t>Framework: Flask </a:t>
            </a:r>
          </a:p>
          <a:p>
            <a:r>
              <a:rPr lang="en-IN" sz="1600" dirty="0">
                <a:latin typeface="Times New Roman" panose="02020603050405020304" pitchFamily="18" charset="0"/>
                <a:cs typeface="Times New Roman" panose="02020603050405020304" pitchFamily="18" charset="0"/>
              </a:rPr>
              <a:t>Libraries: NLP, Machine Learning libraries (</a:t>
            </a:r>
            <a:r>
              <a:rPr lang="en-IN" sz="1600" dirty="0" err="1">
                <a:latin typeface="Times New Roman" panose="02020603050405020304" pitchFamily="18" charset="0"/>
                <a:cs typeface="Times New Roman" panose="02020603050405020304" pitchFamily="18" charset="0"/>
              </a:rPr>
              <a:t>SpaCy</a:t>
            </a:r>
            <a:r>
              <a:rPr lang="en-IN" sz="1600" dirty="0">
                <a:latin typeface="Times New Roman" panose="02020603050405020304" pitchFamily="18" charset="0"/>
                <a:cs typeface="Times New Roman" panose="02020603050405020304" pitchFamily="18" charset="0"/>
              </a:rPr>
              <a:t>)</a:t>
            </a:r>
          </a:p>
          <a:p>
            <a:r>
              <a:rPr lang="en-IN" sz="1600" dirty="0">
                <a:latin typeface="Times New Roman" panose="02020603050405020304" pitchFamily="18" charset="0"/>
                <a:cs typeface="Times New Roman" panose="02020603050405020304" pitchFamily="18" charset="0"/>
              </a:rPr>
              <a:t>Tools: VS Code, Git, Web Browser</a:t>
            </a:r>
          </a:p>
          <a:p>
            <a:pPr marL="76200" indent="0">
              <a:buNone/>
            </a:pPr>
            <a:endParaRPr lang="en-IN" sz="1050" dirty="0">
              <a:latin typeface="Times New Roman" panose="02020603050405020304" pitchFamily="18" charset="0"/>
              <a:cs typeface="Times New Roman" panose="02020603050405020304" pitchFamily="18" charset="0"/>
            </a:endParaRPr>
          </a:p>
          <a:p>
            <a:pPr marL="76200" indent="0">
              <a:buNone/>
            </a:pPr>
            <a:r>
              <a:rPr lang="en-IN" sz="1800" b="1" dirty="0">
                <a:latin typeface="Times New Roman" panose="02020603050405020304" pitchFamily="18" charset="0"/>
                <a:cs typeface="Times New Roman" panose="02020603050405020304" pitchFamily="18" charset="0"/>
              </a:rPr>
              <a:t>Hardware Requirements:</a:t>
            </a:r>
            <a:endParaRPr lang="en-IN" sz="18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Processor: Intel i5 or higher</a:t>
            </a:r>
          </a:p>
          <a:p>
            <a:r>
              <a:rPr lang="en-IN" sz="1600" dirty="0">
                <a:latin typeface="Times New Roman" panose="02020603050405020304" pitchFamily="18" charset="0"/>
                <a:cs typeface="Times New Roman" panose="02020603050405020304" pitchFamily="18" charset="0"/>
              </a:rPr>
              <a:t>RAM: Minimum 8 GB</a:t>
            </a:r>
          </a:p>
          <a:p>
            <a:r>
              <a:rPr lang="en-IN" sz="1600" dirty="0">
                <a:latin typeface="Times New Roman" panose="02020603050405020304" pitchFamily="18" charset="0"/>
                <a:cs typeface="Times New Roman" panose="02020603050405020304" pitchFamily="18" charset="0"/>
              </a:rPr>
              <a:t>Storage: Minimum 20 GB free disk space</a:t>
            </a:r>
          </a:p>
          <a:p>
            <a:r>
              <a:rPr lang="en-IN" sz="1600" dirty="0">
                <a:latin typeface="Times New Roman" panose="02020603050405020304" pitchFamily="18" charset="0"/>
                <a:cs typeface="Times New Roman" panose="02020603050405020304" pitchFamily="18" charset="0"/>
              </a:rPr>
              <a:t>Internet Connectivity</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F9643-D097-2FF1-872A-CB7DF17DB52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Architectural Diagram</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8B6C38D-E737-6132-2D79-F8801EB035A9}"/>
              </a:ext>
            </a:extLst>
          </p:cNvPr>
          <p:cNvSpPr>
            <a:spLocks noGrp="1"/>
          </p:cNvSpPr>
          <p:nvPr>
            <p:ph type="body" idx="1"/>
          </p:nvPr>
        </p:nvSpPr>
        <p:spPr/>
        <p:txBody>
          <a:bodyPr/>
          <a:lstStyle/>
          <a:p>
            <a:pPr marL="76200" indent="0">
              <a:buNone/>
            </a:pPr>
            <a:endParaRPr lang="en-IN" dirty="0"/>
          </a:p>
        </p:txBody>
      </p:sp>
      <p:pic>
        <p:nvPicPr>
          <p:cNvPr id="5" name="Picture 4">
            <a:extLst>
              <a:ext uri="{FF2B5EF4-FFF2-40B4-BE49-F238E27FC236}">
                <a16:creationId xmlns:a16="http://schemas.microsoft.com/office/drawing/2014/main" id="{7CA26A2C-BBF9-A6F5-A98C-6940789186F8}"/>
              </a:ext>
            </a:extLst>
          </p:cNvPr>
          <p:cNvPicPr>
            <a:picLocks noChangeAspect="1"/>
          </p:cNvPicPr>
          <p:nvPr/>
        </p:nvPicPr>
        <p:blipFill>
          <a:blip r:embed="rId2"/>
          <a:stretch>
            <a:fillRect/>
          </a:stretch>
        </p:blipFill>
        <p:spPr>
          <a:xfrm>
            <a:off x="1465623" y="1251858"/>
            <a:ext cx="9260753" cy="4561113"/>
          </a:xfrm>
          <a:prstGeom prst="rect">
            <a:avLst/>
          </a:prstGeom>
        </p:spPr>
      </p:pic>
    </p:spTree>
    <p:extLst>
      <p:ext uri="{BB962C8B-B14F-4D97-AF65-F5344CB8AC3E}">
        <p14:creationId xmlns:p14="http://schemas.microsoft.com/office/powerpoint/2010/main" val="3359039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360533"/>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Times New Roman" panose="02020603050405020304" pitchFamily="18" charset="0"/>
                <a:ea typeface="Cambria" panose="02040503050406030204" pitchFamily="18" charset="0"/>
                <a:cs typeface="Times New Roman" panose="02020603050405020304" pitchFamily="18" charset="0"/>
              </a:rPr>
              <a:t>Timeline of the Project (Gantt Chart)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5" name="Google Shape;115;p17"/>
          <p:cNvSpPr txBox="1">
            <a:spLocks noGrp="1"/>
          </p:cNvSpPr>
          <p:nvPr>
            <p:ph type="body" idx="1"/>
          </p:nvPr>
        </p:nvSpPr>
        <p:spPr>
          <a:xfrm>
            <a:off x="812800" y="848033"/>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graphicFrame>
        <p:nvGraphicFramePr>
          <p:cNvPr id="2" name="Table 1">
            <a:extLst>
              <a:ext uri="{FF2B5EF4-FFF2-40B4-BE49-F238E27FC236}">
                <a16:creationId xmlns:a16="http://schemas.microsoft.com/office/drawing/2014/main" id="{6CEED35B-0052-EC5D-CA6F-EA9D61BE819F}"/>
              </a:ext>
            </a:extLst>
          </p:cNvPr>
          <p:cNvGraphicFramePr>
            <a:graphicFrameLocks noGrp="1"/>
          </p:cNvGraphicFramePr>
          <p:nvPr>
            <p:extLst>
              <p:ext uri="{D42A27DB-BD31-4B8C-83A1-F6EECF244321}">
                <p14:modId xmlns:p14="http://schemas.microsoft.com/office/powerpoint/2010/main" val="2859664237"/>
              </p:ext>
            </p:extLst>
          </p:nvPr>
        </p:nvGraphicFramePr>
        <p:xfrm>
          <a:off x="812800" y="1335533"/>
          <a:ext cx="10668000" cy="4157815"/>
        </p:xfrm>
        <a:graphic>
          <a:graphicData uri="http://schemas.openxmlformats.org/drawingml/2006/table">
            <a:tbl>
              <a:tblPr>
                <a:tableStyleId>{3C2FFA5D-87B4-456A-9821-1D502468CF0F}</a:tableStyleId>
              </a:tblPr>
              <a:tblGrid>
                <a:gridCol w="3558164">
                  <a:extLst>
                    <a:ext uri="{9D8B030D-6E8A-4147-A177-3AD203B41FA5}">
                      <a16:colId xmlns:a16="http://schemas.microsoft.com/office/drawing/2014/main" val="690320201"/>
                    </a:ext>
                  </a:extLst>
                </a:gridCol>
                <a:gridCol w="3554918">
                  <a:extLst>
                    <a:ext uri="{9D8B030D-6E8A-4147-A177-3AD203B41FA5}">
                      <a16:colId xmlns:a16="http://schemas.microsoft.com/office/drawing/2014/main" val="931021594"/>
                    </a:ext>
                  </a:extLst>
                </a:gridCol>
                <a:gridCol w="3554918">
                  <a:extLst>
                    <a:ext uri="{9D8B030D-6E8A-4147-A177-3AD203B41FA5}">
                      <a16:colId xmlns:a16="http://schemas.microsoft.com/office/drawing/2014/main" val="1632330761"/>
                    </a:ext>
                  </a:extLst>
                </a:gridCol>
              </a:tblGrid>
              <a:tr h="437665">
                <a:tc>
                  <a:txBody>
                    <a:bodyPr/>
                    <a:lstStyle/>
                    <a:p>
                      <a:pPr>
                        <a:buNone/>
                      </a:pPr>
                      <a:r>
                        <a:rPr lang="en-IN" sz="1600" b="1" dirty="0">
                          <a:latin typeface="Times New Roman" panose="02020603050405020304" pitchFamily="18" charset="0"/>
                          <a:cs typeface="Times New Roman" panose="02020603050405020304" pitchFamily="18" charset="0"/>
                        </a:rPr>
                        <a:t>Stage</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Phase</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Task</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22263167"/>
                  </a:ext>
                </a:extLst>
              </a:tr>
              <a:tr h="744030">
                <a:tc>
                  <a:txBody>
                    <a:bodyPr/>
                    <a:lstStyle/>
                    <a:p>
                      <a:pPr>
                        <a:buNone/>
                      </a:pPr>
                      <a:r>
                        <a:rPr lang="en-IN" sz="1600" dirty="0">
                          <a:latin typeface="Times New Roman" panose="02020603050405020304" pitchFamily="18" charset="0"/>
                          <a:cs typeface="Times New Roman" panose="02020603050405020304" pitchFamily="18" charset="0"/>
                        </a:rPr>
                        <a:t>Review 1</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Problem Identification &amp; Literature Survey</a:t>
                      </a:r>
                    </a:p>
                  </a:txBody>
                  <a:tcPr anchor="ctr"/>
                </a:tc>
                <a:tc>
                  <a:txBody>
                    <a:bodyPr/>
                    <a:lstStyle/>
                    <a:p>
                      <a:pPr>
                        <a:buNone/>
                      </a:pPr>
                      <a:r>
                        <a:rPr lang="en-US" sz="1600" dirty="0">
                          <a:latin typeface="Times New Roman" panose="02020603050405020304" pitchFamily="18" charset="0"/>
                          <a:cs typeface="Times New Roman" panose="02020603050405020304" pitchFamily="18" charset="0"/>
                        </a:rPr>
                        <a:t>Identify public health issues and study existing AI healthcare chatbots</a:t>
                      </a:r>
                    </a:p>
                  </a:txBody>
                  <a:tcPr anchor="ctr"/>
                </a:tc>
                <a:extLst>
                  <a:ext uri="{0D108BD9-81ED-4DB2-BD59-A6C34878D82A}">
                    <a16:rowId xmlns:a16="http://schemas.microsoft.com/office/drawing/2014/main" val="46928912"/>
                  </a:ext>
                </a:extLst>
              </a:tr>
              <a:tr h="744030">
                <a:tc>
                  <a:txBody>
                    <a:bodyPr/>
                    <a:lstStyle/>
                    <a:p>
                      <a:pPr>
                        <a:buNone/>
                      </a:pPr>
                      <a:r>
                        <a:rPr lang="en-IN" sz="1600" dirty="0">
                          <a:latin typeface="Times New Roman" panose="02020603050405020304" pitchFamily="18" charset="0"/>
                          <a:cs typeface="Times New Roman" panose="02020603050405020304" pitchFamily="18" charset="0"/>
                        </a:rPr>
                        <a:t>Review 2</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System Design &amp; Requirement Analysis</a:t>
                      </a:r>
                    </a:p>
                  </a:txBody>
                  <a:tcPr anchor="ctr"/>
                </a:tc>
                <a:tc>
                  <a:txBody>
                    <a:bodyPr/>
                    <a:lstStyle/>
                    <a:p>
                      <a:pPr>
                        <a:buNone/>
                      </a:pPr>
                      <a:r>
                        <a:rPr lang="en-US" sz="1600" dirty="0">
                          <a:latin typeface="Times New Roman" panose="02020603050405020304" pitchFamily="18" charset="0"/>
                          <a:cs typeface="Times New Roman" panose="02020603050405020304" pitchFamily="18" charset="0"/>
                        </a:rPr>
                        <a:t>Define system architecture, data flow, and software requirements</a:t>
                      </a:r>
                    </a:p>
                  </a:txBody>
                  <a:tcPr anchor="ctr"/>
                </a:tc>
                <a:extLst>
                  <a:ext uri="{0D108BD9-81ED-4DB2-BD59-A6C34878D82A}">
                    <a16:rowId xmlns:a16="http://schemas.microsoft.com/office/drawing/2014/main" val="1509146247"/>
                  </a:ext>
                </a:extLst>
              </a:tr>
              <a:tr h="744030">
                <a:tc>
                  <a:txBody>
                    <a:bodyPr/>
                    <a:lstStyle/>
                    <a:p>
                      <a:pPr>
                        <a:buNone/>
                      </a:pPr>
                      <a:r>
                        <a:rPr lang="en-IN" sz="1600" dirty="0">
                          <a:latin typeface="Times New Roman" panose="02020603050405020304" pitchFamily="18" charset="0"/>
                          <a:cs typeface="Times New Roman" panose="02020603050405020304" pitchFamily="18" charset="0"/>
                        </a:rPr>
                        <a:t>Review 3</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Chatbot Development &amp; NLP Implementation</a:t>
                      </a:r>
                    </a:p>
                  </a:txBody>
                  <a:tcPr anchor="ctr"/>
                </a:tc>
                <a:tc>
                  <a:txBody>
                    <a:bodyPr/>
                    <a:lstStyle/>
                    <a:p>
                      <a:pPr>
                        <a:buNone/>
                      </a:pPr>
                      <a:r>
                        <a:rPr lang="en-US" sz="1600" dirty="0">
                          <a:latin typeface="Times New Roman" panose="02020603050405020304" pitchFamily="18" charset="0"/>
                          <a:cs typeface="Times New Roman" panose="02020603050405020304" pitchFamily="18" charset="0"/>
                        </a:rPr>
                        <a:t>Develop chatbot logic, train NLP model, and implement response handling</a:t>
                      </a:r>
                    </a:p>
                  </a:txBody>
                  <a:tcPr anchor="ctr"/>
                </a:tc>
                <a:extLst>
                  <a:ext uri="{0D108BD9-81ED-4DB2-BD59-A6C34878D82A}">
                    <a16:rowId xmlns:a16="http://schemas.microsoft.com/office/drawing/2014/main" val="2876266824"/>
                  </a:ext>
                </a:extLst>
              </a:tr>
              <a:tr h="744030">
                <a:tc>
                  <a:txBody>
                    <a:bodyPr/>
                    <a:lstStyle/>
                    <a:p>
                      <a:pPr>
                        <a:buNone/>
                      </a:pPr>
                      <a:r>
                        <a:rPr lang="en-IN" sz="1600" dirty="0">
                          <a:latin typeface="Times New Roman" panose="02020603050405020304" pitchFamily="18" charset="0"/>
                          <a:cs typeface="Times New Roman" panose="02020603050405020304" pitchFamily="18" charset="0"/>
                        </a:rPr>
                        <a:t>Review 4</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Integration, Testing &amp; Validation</a:t>
                      </a:r>
                    </a:p>
                  </a:txBody>
                  <a:tcPr anchor="ctr"/>
                </a:tc>
                <a:tc>
                  <a:txBody>
                    <a:bodyPr/>
                    <a:lstStyle/>
                    <a:p>
                      <a:pPr>
                        <a:buNone/>
                      </a:pPr>
                      <a:r>
                        <a:rPr lang="en-US" sz="1600" dirty="0">
                          <a:latin typeface="Times New Roman" panose="02020603050405020304" pitchFamily="18" charset="0"/>
                          <a:cs typeface="Times New Roman" panose="02020603050405020304" pitchFamily="18" charset="0"/>
                        </a:rPr>
                        <a:t>Integrate frontend and backend, test chatbot accuracy and performance</a:t>
                      </a:r>
                    </a:p>
                  </a:txBody>
                  <a:tcPr anchor="ctr"/>
                </a:tc>
                <a:extLst>
                  <a:ext uri="{0D108BD9-81ED-4DB2-BD59-A6C34878D82A}">
                    <a16:rowId xmlns:a16="http://schemas.microsoft.com/office/drawing/2014/main" val="2823443862"/>
                  </a:ext>
                </a:extLst>
              </a:tr>
              <a:tr h="744030">
                <a:tc>
                  <a:txBody>
                    <a:bodyPr/>
                    <a:lstStyle/>
                    <a:p>
                      <a:pPr>
                        <a:buNone/>
                      </a:pPr>
                      <a:r>
                        <a:rPr lang="en-IN" sz="1600">
                          <a:latin typeface="Times New Roman" panose="02020603050405020304" pitchFamily="18" charset="0"/>
                          <a:cs typeface="Times New Roman" panose="02020603050405020304" pitchFamily="18" charset="0"/>
                        </a:rPr>
                        <a:t>Review 5</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Evaluation, Documentation &amp; Final Submission</a:t>
                      </a:r>
                    </a:p>
                  </a:txBody>
                  <a:tcPr anchor="ctr"/>
                </a:tc>
                <a:tc>
                  <a:txBody>
                    <a:bodyPr/>
                    <a:lstStyle/>
                    <a:p>
                      <a:pPr>
                        <a:buNone/>
                      </a:pPr>
                      <a:r>
                        <a:rPr lang="en-US" sz="1600" dirty="0">
                          <a:latin typeface="Times New Roman" panose="02020603050405020304" pitchFamily="18" charset="0"/>
                          <a:cs typeface="Times New Roman" panose="02020603050405020304" pitchFamily="18" charset="0"/>
                        </a:rPr>
                        <a:t>Evaluate system results, prepare project report, and final presentation</a:t>
                      </a:r>
                    </a:p>
                  </a:txBody>
                  <a:tcPr anchor="ctr"/>
                </a:tc>
                <a:extLst>
                  <a:ext uri="{0D108BD9-81ED-4DB2-BD59-A6C34878D82A}">
                    <a16:rowId xmlns:a16="http://schemas.microsoft.com/office/drawing/2014/main" val="2967781079"/>
                  </a:ext>
                </a:extLst>
              </a:tr>
            </a:tbl>
          </a:graphicData>
        </a:graphic>
      </p:graphicFrame>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IN" sz="1600" dirty="0">
                <a:latin typeface="Times New Roman" panose="02020603050405020304" pitchFamily="18" charset="0"/>
                <a:cs typeface="Times New Roman" panose="02020603050405020304" pitchFamily="18" charset="0"/>
              </a:rPr>
              <a:t>[1] A. </a:t>
            </a:r>
            <a:r>
              <a:rPr lang="en-IN" sz="1600" dirty="0" err="1">
                <a:latin typeface="Times New Roman" panose="02020603050405020304" pitchFamily="18" charset="0"/>
                <a:cs typeface="Times New Roman" panose="02020603050405020304" pitchFamily="18" charset="0"/>
              </a:rPr>
              <a:t>Zagade</a:t>
            </a:r>
            <a:r>
              <a:rPr lang="en-IN" sz="1600" dirty="0">
                <a:latin typeface="Times New Roman" panose="02020603050405020304" pitchFamily="18" charset="0"/>
                <a:cs typeface="Times New Roman" panose="02020603050405020304" pitchFamily="18" charset="0"/>
              </a:rPr>
              <a:t>, V. </a:t>
            </a:r>
            <a:r>
              <a:rPr lang="en-IN" sz="1600" dirty="0" err="1">
                <a:latin typeface="Times New Roman" panose="02020603050405020304" pitchFamily="18" charset="0"/>
                <a:cs typeface="Times New Roman" panose="02020603050405020304" pitchFamily="18" charset="0"/>
              </a:rPr>
              <a:t>Killedar</a:t>
            </a:r>
            <a:r>
              <a:rPr lang="en-IN" sz="1600" dirty="0">
                <a:latin typeface="Times New Roman" panose="02020603050405020304" pitchFamily="18" charset="0"/>
                <a:cs typeface="Times New Roman" panose="02020603050405020304" pitchFamily="18" charset="0"/>
              </a:rPr>
              <a:t>, O. Mane, G. </a:t>
            </a:r>
            <a:r>
              <a:rPr lang="en-IN" sz="1600" dirty="0" err="1">
                <a:latin typeface="Times New Roman" panose="02020603050405020304" pitchFamily="18" charset="0"/>
                <a:cs typeface="Times New Roman" panose="02020603050405020304" pitchFamily="18" charset="0"/>
              </a:rPr>
              <a:t>Nitalikar</a:t>
            </a:r>
            <a:r>
              <a:rPr lang="en-IN" sz="1600" dirty="0">
                <a:latin typeface="Times New Roman" panose="02020603050405020304" pitchFamily="18" charset="0"/>
                <a:cs typeface="Times New Roman" panose="02020603050405020304" pitchFamily="18" charset="0"/>
              </a:rPr>
              <a:t>, and S. Bhosale, “AI-based medical chatbot for disease prediction,” </a:t>
            </a:r>
            <a:r>
              <a:rPr lang="en-IN" sz="1600" i="1" dirty="0">
                <a:latin typeface="Times New Roman" panose="02020603050405020304" pitchFamily="18" charset="0"/>
                <a:cs typeface="Times New Roman" panose="02020603050405020304" pitchFamily="18" charset="0"/>
              </a:rPr>
              <a:t>International Journal for Multidisciplinary Research (IJFMR)</a:t>
            </a:r>
            <a:r>
              <a:rPr lang="en-IN" sz="1600" dirty="0">
                <a:latin typeface="Times New Roman" panose="02020603050405020304" pitchFamily="18" charset="0"/>
                <a:cs typeface="Times New Roman" panose="02020603050405020304" pitchFamily="18" charset="0"/>
              </a:rPr>
              <a:t>, vol. 6, no. 3, pp. 1–9, 2024.  </a:t>
            </a:r>
            <a:r>
              <a:rPr lang="en-IN" sz="1600" dirty="0">
                <a:latin typeface="Times New Roman" panose="02020603050405020304" pitchFamily="18" charset="0"/>
                <a:cs typeface="Times New Roman" panose="02020603050405020304" pitchFamily="18" charset="0"/>
                <a:hlinkClick r:id="rId3"/>
              </a:rPr>
              <a:t>LINK</a:t>
            </a:r>
            <a:endParaRPr lang="en-IN" sz="1600" dirty="0">
              <a:latin typeface="Times New Roman" panose="02020603050405020304" pitchFamily="18" charset="0"/>
              <a:cs typeface="Times New Roman" panose="02020603050405020304" pitchFamily="18" charset="0"/>
            </a:endParaRPr>
          </a:p>
          <a:p>
            <a:pPr marL="76200" indent="0">
              <a:buNone/>
            </a:pPr>
            <a:endParaRPr lang="en-IN" sz="1000" dirty="0">
              <a:latin typeface="Times New Roman" panose="02020603050405020304" pitchFamily="18" charset="0"/>
              <a:cs typeface="Times New Roman" panose="02020603050405020304" pitchFamily="18" charset="0"/>
            </a:endParaRPr>
          </a:p>
          <a:p>
            <a:pPr marL="76200" indent="0">
              <a:buNone/>
            </a:pPr>
            <a:r>
              <a:rPr lang="en-IN" sz="1600" dirty="0">
                <a:latin typeface="Times New Roman" panose="02020603050405020304" pitchFamily="18" charset="0"/>
                <a:cs typeface="Times New Roman" panose="02020603050405020304" pitchFamily="18" charset="0"/>
              </a:rPr>
              <a:t>[2] I. Parashar and P. Bisht, “AI chatbot for medical consultation and health awareness,” </a:t>
            </a:r>
            <a:r>
              <a:rPr lang="en-IN" sz="1600" i="1" dirty="0">
                <a:latin typeface="Times New Roman" panose="02020603050405020304" pitchFamily="18" charset="0"/>
                <a:cs typeface="Times New Roman" panose="02020603050405020304" pitchFamily="18" charset="0"/>
              </a:rPr>
              <a:t>International Journal of Research Publication and Reviews (IJRPR)</a:t>
            </a:r>
            <a:r>
              <a:rPr lang="en-IN" sz="1600" dirty="0">
                <a:latin typeface="Times New Roman" panose="02020603050405020304" pitchFamily="18" charset="0"/>
                <a:cs typeface="Times New Roman" panose="02020603050405020304" pitchFamily="18" charset="0"/>
              </a:rPr>
              <a:t>, vol. 6, no. 5, pp. 3046–3051, 2025. </a:t>
            </a:r>
            <a:r>
              <a:rPr lang="en-IN" sz="1600" dirty="0">
                <a:latin typeface="Times New Roman" panose="02020603050405020304" pitchFamily="18" charset="0"/>
                <a:cs typeface="Times New Roman" panose="02020603050405020304" pitchFamily="18" charset="0"/>
                <a:hlinkClick r:id="rId4"/>
              </a:rPr>
              <a:t>LINK</a:t>
            </a:r>
            <a:endParaRPr lang="en-IN" sz="1600" dirty="0">
              <a:latin typeface="Times New Roman" panose="02020603050405020304" pitchFamily="18" charset="0"/>
              <a:cs typeface="Times New Roman" panose="02020603050405020304" pitchFamily="18" charset="0"/>
            </a:endParaRPr>
          </a:p>
          <a:p>
            <a:pPr marL="76200" indent="0">
              <a:buNone/>
            </a:pPr>
            <a:endParaRPr lang="en-IN" sz="1000" dirty="0">
              <a:latin typeface="Times New Roman" panose="02020603050405020304" pitchFamily="18" charset="0"/>
              <a:cs typeface="Times New Roman" panose="02020603050405020304" pitchFamily="18" charset="0"/>
            </a:endParaRPr>
          </a:p>
          <a:p>
            <a:pPr marL="76200" indent="0">
              <a:buNone/>
            </a:pPr>
            <a:r>
              <a:rPr lang="en-IN" sz="1600" dirty="0">
                <a:latin typeface="Times New Roman" panose="02020603050405020304" pitchFamily="18" charset="0"/>
                <a:cs typeface="Times New Roman" panose="02020603050405020304" pitchFamily="18" charset="0"/>
              </a:rPr>
              <a:t>[3] S. K. Ojha, A. Kumar, T. Bhole, and S. Naaz, “AI-based chatbot for healthcare,” </a:t>
            </a:r>
            <a:r>
              <a:rPr lang="en-IN" sz="1600" i="1" dirty="0">
                <a:latin typeface="Times New Roman" panose="02020603050405020304" pitchFamily="18" charset="0"/>
                <a:cs typeface="Times New Roman" panose="02020603050405020304" pitchFamily="18" charset="0"/>
              </a:rPr>
              <a:t>International Journal of Engineering Research &amp; Technology (IJERT)</a:t>
            </a:r>
            <a:r>
              <a:rPr lang="en-IN" sz="1600" dirty="0">
                <a:latin typeface="Times New Roman" panose="02020603050405020304" pitchFamily="18" charset="0"/>
                <a:cs typeface="Times New Roman" panose="02020603050405020304" pitchFamily="18" charset="0"/>
              </a:rPr>
              <a:t>, vol. 14, no. 12, pp. 1–6, 2025. </a:t>
            </a:r>
            <a:r>
              <a:rPr lang="en-IN" sz="1600" dirty="0">
                <a:latin typeface="Times New Roman" panose="02020603050405020304" pitchFamily="18" charset="0"/>
                <a:cs typeface="Times New Roman" panose="02020603050405020304" pitchFamily="18" charset="0"/>
                <a:hlinkClick r:id="rId5"/>
              </a:rPr>
              <a:t>LINK</a:t>
            </a:r>
            <a:endParaRPr lang="en-IN" sz="1600" dirty="0">
              <a:latin typeface="Times New Roman" panose="02020603050405020304" pitchFamily="18" charset="0"/>
              <a:cs typeface="Times New Roman" panose="02020603050405020304" pitchFamily="18" charset="0"/>
            </a:endParaRPr>
          </a:p>
          <a:p>
            <a:pPr marL="76200" indent="0">
              <a:buNone/>
            </a:pPr>
            <a:endParaRPr lang="en-IN" sz="1000" dirty="0">
              <a:latin typeface="Times New Roman" panose="02020603050405020304" pitchFamily="18" charset="0"/>
              <a:cs typeface="Times New Roman" panose="02020603050405020304" pitchFamily="18" charset="0"/>
            </a:endParaRPr>
          </a:p>
          <a:p>
            <a:pPr marL="76200" indent="0">
              <a:buNone/>
            </a:pPr>
            <a:r>
              <a:rPr lang="en-IN" sz="1600" dirty="0">
                <a:latin typeface="Times New Roman" panose="02020603050405020304" pitchFamily="18" charset="0"/>
                <a:cs typeface="Times New Roman" panose="02020603050405020304" pitchFamily="18" charset="0"/>
              </a:rPr>
              <a:t>[4] P. J. Rani, S. Priya, and K. V. Rao, “Artificial intelligence-based healthcare monitoring system,” </a:t>
            </a:r>
            <a:r>
              <a:rPr lang="en-IN" sz="1600" i="1" dirty="0">
                <a:latin typeface="Times New Roman" panose="02020603050405020304" pitchFamily="18" charset="0"/>
                <a:cs typeface="Times New Roman" panose="02020603050405020304" pitchFamily="18" charset="0"/>
              </a:rPr>
              <a:t>Bioinformation</a:t>
            </a:r>
            <a:r>
              <a:rPr lang="en-IN" sz="1600" dirty="0">
                <a:latin typeface="Times New Roman" panose="02020603050405020304" pitchFamily="18" charset="0"/>
                <a:cs typeface="Times New Roman" panose="02020603050405020304" pitchFamily="18" charset="0"/>
              </a:rPr>
              <a:t>, vol. 21, no. 8, pp. 827–833, 2021. </a:t>
            </a:r>
            <a:r>
              <a:rPr lang="en-IN" sz="1600" dirty="0">
                <a:latin typeface="Times New Roman" panose="02020603050405020304" pitchFamily="18" charset="0"/>
                <a:cs typeface="Times New Roman" panose="02020603050405020304" pitchFamily="18" charset="0"/>
                <a:hlinkClick r:id="rId6"/>
              </a:rPr>
              <a:t>LINK</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918</TotalTime>
  <Words>1058</Words>
  <Application>Microsoft Office PowerPoint</Application>
  <PresentationFormat>Widescreen</PresentationFormat>
  <Paragraphs>128</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Cambria</vt:lpstr>
      <vt:lpstr>Times New Roman</vt:lpstr>
      <vt:lpstr>Verdana</vt:lpstr>
      <vt:lpstr>Wingdings</vt:lpstr>
      <vt:lpstr>Bioinformatics</vt:lpstr>
      <vt:lpstr>AI Driven Public Health Chatbot for Disease Awareness</vt:lpstr>
      <vt:lpstr>Problem Statement Number: SIH25049</vt:lpstr>
      <vt:lpstr>PowerPoint Presentation</vt:lpstr>
      <vt:lpstr>ANALYSIS OF PROBLEM STATEMENT</vt:lpstr>
      <vt:lpstr>INNOVATION / NOVEL CONTRIBUTIONS</vt:lpstr>
      <vt:lpstr>Literature Review &amp; Project Overview</vt:lpstr>
      <vt:lpstr>Github Link</vt:lpstr>
      <vt:lpstr>Analysis of Problem Statement (contd...)</vt:lpstr>
      <vt:lpstr>Architectural Diagram</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Tejaswini</dc:creator>
  <cp:lastModifiedBy>Suvidha sharanappa Iberi</cp:lastModifiedBy>
  <cp:revision>7</cp:revision>
  <dcterms:modified xsi:type="dcterms:W3CDTF">2026-04-25T08:17:23Z</dcterms:modified>
</cp:coreProperties>
</file>